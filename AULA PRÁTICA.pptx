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7" r:id="rId2"/>
    <p:sldId id="258" r:id="rId3"/>
    <p:sldId id="256" r:id="rId4"/>
    <p:sldId id="259" r:id="rId5"/>
    <p:sldId id="260" r:id="rId6"/>
    <p:sldId id="267" r:id="rId7"/>
    <p:sldId id="268" r:id="rId8"/>
    <p:sldId id="269" r:id="rId9"/>
    <p:sldId id="262" r:id="rId10"/>
    <p:sldId id="261" r:id="rId11"/>
    <p:sldId id="264" r:id="rId12"/>
    <p:sldId id="265" r:id="rId13"/>
    <p:sldId id="266" r:id="rId1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004" autoAdjust="0"/>
  </p:normalViewPr>
  <p:slideViewPr>
    <p:cSldViewPr snapToGrid="0">
      <p:cViewPr varScale="1">
        <p:scale>
          <a:sx n="74" d="100"/>
          <a:sy n="74" d="100"/>
        </p:scale>
        <p:origin x="57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6B0BF2-455C-4803-8541-F7590F8F9309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DB6A6-2CF5-4FCD-915E-5ACBFFC6DB0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70231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goJacksno/Aula-pr-tica---Distribui-o-de-Frequ-ncia/tree/main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goJacksno/Aula-pr-tica---Distribui-o-de-Frequ-ncia/tree/main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FD-0167-469E-AA05-8DF75F46820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04629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FD-0167-469E-AA05-8DF75F468205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76831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hlinkClick r:id="rId3"/>
              </a:rPr>
              <a:t>https://github.com/EdgoJacksno/Aula-pr-tica---Distribui-o-de-Frequ-ncia/tree/main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DB6A6-2CF5-4FCD-915E-5ACBFFC6DB09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87170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>
                <a:hlinkClick r:id="rId3"/>
              </a:rPr>
              <a:t>https://github.com/EdgoJacksno/Aula-pr-tica---Distribui-o-de-Frequ-ncia/tree/main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1DB6A6-2CF5-4FCD-915E-5ACBFFC6DB09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5528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D06EA-3229-4CAE-BD1C-06D9A53D85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6243969-55BD-4F23-9A54-868D224D0B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F2F2F1-0109-4523-9208-0FA6B5F6F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7430705-D166-4D7D-8F47-C51CF2A87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DCCBE97-9FD5-4082-AE2E-B82108005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571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0DC5C6-54A9-48F8-8103-360495F57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86F2D25-CE31-4590-BCC9-470CC35F4D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A1CDFA0-6330-4159-8F05-28CC7A3E3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A4B3D86-02E5-49E8-BA4C-296E1F997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3EBF1B-E89C-449D-9E7F-9C314D176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390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F53F80-5370-45DB-AE15-B719966174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485EA6D-998E-4A2E-AFF5-4507B525E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C97BC93-FE3E-4FD4-99CA-4A8E8C00E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A34E1F0-DC91-42AA-ACA0-B441E00EE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E7E0B3-32D0-4EBD-BBE6-AF2091F8E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0450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F762-F57A-4459-B865-9A5FEA0C7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ACE71F8-7FFD-49DD-9493-C96E2201C5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0EE17BC-5033-4E65-A182-2C643ADBBD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C003B2D-F13A-4FF5-8FC3-E71ACD5D9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D88042A-32E3-4C2F-9B62-0BFF1FA22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956DFD-BA06-418A-BEBE-83623DF1A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1942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3B554-C4F3-4D4E-841A-4A54E5AA35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E634B9A-620B-4638-8BFB-0534D9E9F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F3D8C5-F8AF-4B24-92D1-5052C6E95B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A737173-83B8-413C-BE20-E16B4610A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C26502-6BEE-4CB3-A741-8FF97595EF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4110DD5B-23BD-495E-B4ED-5D601313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28753F27-1078-48E2-9E15-B36395423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0527FBA-C4E4-43EB-BB28-C0EFF5963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53066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250E84-FF95-486E-8F99-EFF18D075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2A0544B-9944-433F-9813-739040763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300B1A2-134F-4D4D-BAED-8837D80F4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D32583F-DA18-4681-B08A-2DEC930B7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3764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2A19ED2-ADB3-4751-A87F-D2C69503C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006E229-7067-4029-8956-6E1B432EC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7B03774-6125-4319-90FD-A1F4BDFE94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9993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7140A3-CC99-4056-B3DA-6A12AE4AC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54055D-7D53-4406-AF9D-2594C694B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9299AE5-BAA5-48B6-A107-183B5039EF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B27DD01-784E-4270-BB07-DD812BE9C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A3F076E-00F7-4BEB-836A-242BC02DFA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416893C-263C-4CD2-A571-0270A2477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7770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5FBC9A-8F23-4EF1-92ED-1FD6314BF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9B0803F-36A4-4362-BDF2-08E8DA935A8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5A37189-8831-437D-B4A8-D716CA4AE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01CF23-69C8-4C23-BBA6-95B2D0002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7A6B34-06FE-494D-B2AA-BF7F27E19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19F17A4-279E-4B9B-81AE-CA1DCD233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48306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E2DD91-1C51-4401-882E-147944DC8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A7AD8A8-7316-468C-933D-3C019E1480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B5E324-E530-42E5-9809-43A53D42E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55EF18-7B72-4C73-BB56-E391C9704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62109A-2E8F-440A-AF2E-F77461B9F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638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C6034BF-C2E6-4A43-9EB5-94EC29A2AE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8863F03-CC94-45FD-83B2-3EAF1FC397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FDEBD6-0616-40DD-B805-A11375EBA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689490-4E50-40F1-9EBB-D47443E2C8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B49E57B-FC13-4594-A1AE-1C73E903B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31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F8A92ED1-344E-4434-A1A6-017920A21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6C91E4-B233-4857-B8F5-018B26FA75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F5E249B-5547-4660-9DC8-73ED34FE5F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54916D-7285-4168-9E5C-C504376886F4}" type="datetimeFigureOut">
              <a:rPr lang="pt-BR" smtClean="0"/>
              <a:t>15/05/2025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567D2A3-F30B-47D3-B7FC-BFC444BB54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0DF73D-CB01-48C2-96CF-01BB0078B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8AD843-67B1-4F8A-A627-F7D57752DC7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4973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goJacksno/Aulap/blob/main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EdgoJacksno/Aulap/blob/main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CaixaDeTexto 21">
            <a:extLst>
              <a:ext uri="{FF2B5EF4-FFF2-40B4-BE49-F238E27FC236}">
                <a16:creationId xmlns:a16="http://schemas.microsoft.com/office/drawing/2014/main" id="{DE558319-7783-43C7-9E97-BC3D91CFE0A9}"/>
              </a:ext>
            </a:extLst>
          </p:cNvPr>
          <p:cNvSpPr txBox="1"/>
          <p:nvPr/>
        </p:nvSpPr>
        <p:spPr>
          <a:xfrm>
            <a:off x="4680557" y="6053958"/>
            <a:ext cx="339664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Petrolina-PE, 15 de maio de 2025</a:t>
            </a:r>
          </a:p>
        </p:txBody>
      </p:sp>
      <p:grpSp>
        <p:nvGrpSpPr>
          <p:cNvPr id="15" name="Group 2">
            <a:extLst>
              <a:ext uri="{FF2B5EF4-FFF2-40B4-BE49-F238E27FC236}">
                <a16:creationId xmlns:a16="http://schemas.microsoft.com/office/drawing/2014/main" id="{36E73824-F3C3-44D9-819B-80430CE23999}"/>
              </a:ext>
            </a:extLst>
          </p:cNvPr>
          <p:cNvGrpSpPr>
            <a:grpSpLocks/>
          </p:cNvGrpSpPr>
          <p:nvPr/>
        </p:nvGrpSpPr>
        <p:grpSpPr bwMode="auto">
          <a:xfrm>
            <a:off x="200066" y="-14191"/>
            <a:ext cx="12033250" cy="1332303"/>
            <a:chOff x="22" y="0"/>
            <a:chExt cx="10056" cy="1405"/>
          </a:xfrm>
        </p:grpSpPr>
        <p:sp>
          <p:nvSpPr>
            <p:cNvPr id="16" name="Line 3">
              <a:extLst>
                <a:ext uri="{FF2B5EF4-FFF2-40B4-BE49-F238E27FC236}">
                  <a16:creationId xmlns:a16="http://schemas.microsoft.com/office/drawing/2014/main" id="{1F1B8883-169C-4CB5-94A8-EA7D7A501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" y="1010"/>
              <a:ext cx="8231" cy="13"/>
            </a:xfrm>
            <a:prstGeom prst="line">
              <a:avLst/>
            </a:prstGeom>
            <a:noFill/>
            <a:ln w="27432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3EF8AC9-FA9F-445D-8E3D-15ABB588C9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3" y="0"/>
              <a:ext cx="1743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A422E6ED-E767-4DC0-9105-1AA0070D9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57"/>
              <a:ext cx="10056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25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endPara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2400" b="1" i="0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Arial" panose="020B0604020202020204" pitchFamily="34" charset="0"/>
                </a:rPr>
                <a:t>UPE Campus Petrolina</a:t>
              </a:r>
              <a:endPara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6" name="Retângulo 25">
            <a:extLst>
              <a:ext uri="{FF2B5EF4-FFF2-40B4-BE49-F238E27FC236}">
                <a16:creationId xmlns:a16="http://schemas.microsoft.com/office/drawing/2014/main" id="{F127A6B5-8D77-486B-9218-12DF61BD1C71}"/>
              </a:ext>
            </a:extLst>
          </p:cNvPr>
          <p:cNvSpPr/>
          <p:nvPr/>
        </p:nvSpPr>
        <p:spPr>
          <a:xfrm>
            <a:off x="2540595" y="1942146"/>
            <a:ext cx="7938655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pt-BR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ESTATÍSTICA APLICADA À GEOGRAFIA</a:t>
            </a:r>
            <a:endParaRPr lang="pt-BR" sz="4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7" name="Conector reto 26">
            <a:extLst>
              <a:ext uri="{FF2B5EF4-FFF2-40B4-BE49-F238E27FC236}">
                <a16:creationId xmlns:a16="http://schemas.microsoft.com/office/drawing/2014/main" id="{C179A2EF-03E8-4AF8-A5A3-0E287CB5DB82}"/>
              </a:ext>
            </a:extLst>
          </p:cNvPr>
          <p:cNvCxnSpPr>
            <a:cxnSpLocks/>
          </p:cNvCxnSpPr>
          <p:nvPr/>
        </p:nvCxnSpPr>
        <p:spPr>
          <a:xfrm>
            <a:off x="2540595" y="2069432"/>
            <a:ext cx="0" cy="168442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Imagem 27">
            <a:extLst>
              <a:ext uri="{FF2B5EF4-FFF2-40B4-BE49-F238E27FC236}">
                <a16:creationId xmlns:a16="http://schemas.microsoft.com/office/drawing/2014/main" id="{C3A6DFF0-E45D-404C-90F9-1F9BCCD30FF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2096" y="3544521"/>
            <a:ext cx="11129190" cy="2284584"/>
          </a:xfrm>
          <a:prstGeom prst="rect">
            <a:avLst/>
          </a:prstGeom>
        </p:spPr>
      </p:pic>
      <p:sp>
        <p:nvSpPr>
          <p:cNvPr id="29" name="CaixaDeTexto 28">
            <a:extLst>
              <a:ext uri="{FF2B5EF4-FFF2-40B4-BE49-F238E27FC236}">
                <a16:creationId xmlns:a16="http://schemas.microsoft.com/office/drawing/2014/main" id="{A9D82902-ACD6-4C42-A7F7-797D395E53F2}"/>
              </a:ext>
            </a:extLst>
          </p:cNvPr>
          <p:cNvSpPr txBox="1"/>
          <p:nvPr/>
        </p:nvSpPr>
        <p:spPr>
          <a:xfrm>
            <a:off x="0" y="6567986"/>
            <a:ext cx="2022763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Dr. Edgo Santiago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EE469E3-77E1-4959-8B74-C794EBD1954D}"/>
              </a:ext>
            </a:extLst>
          </p:cNvPr>
          <p:cNvSpPr txBox="1"/>
          <p:nvPr/>
        </p:nvSpPr>
        <p:spPr>
          <a:xfrm>
            <a:off x="2008907" y="6565009"/>
            <a:ext cx="8174186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Estatística descritiva: conceitos estatísticos básicos e aplicações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A6F383F-EAD5-436C-8BD2-3CA5663A2973}"/>
              </a:ext>
            </a:extLst>
          </p:cNvPr>
          <p:cNvSpPr txBox="1"/>
          <p:nvPr/>
        </p:nvSpPr>
        <p:spPr>
          <a:xfrm>
            <a:off x="10183093" y="6565009"/>
            <a:ext cx="2022763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fld id="{EABF7472-5CD2-45EA-8F08-F29863DFE6C6}" type="slidenum">
              <a:rPr lang="pt-BR"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pt-BR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8670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2">
            <a:extLst>
              <a:ext uri="{FF2B5EF4-FFF2-40B4-BE49-F238E27FC236}">
                <a16:creationId xmlns:a16="http://schemas.microsoft.com/office/drawing/2014/main" id="{36E73824-F3C3-44D9-819B-80430CE23999}"/>
              </a:ext>
            </a:extLst>
          </p:cNvPr>
          <p:cNvGrpSpPr>
            <a:grpSpLocks/>
          </p:cNvGrpSpPr>
          <p:nvPr/>
        </p:nvGrpSpPr>
        <p:grpSpPr bwMode="auto">
          <a:xfrm>
            <a:off x="200066" y="-14191"/>
            <a:ext cx="12033250" cy="1332303"/>
            <a:chOff x="22" y="0"/>
            <a:chExt cx="10056" cy="1405"/>
          </a:xfrm>
        </p:grpSpPr>
        <p:sp>
          <p:nvSpPr>
            <p:cNvPr id="16" name="Line 3">
              <a:extLst>
                <a:ext uri="{FF2B5EF4-FFF2-40B4-BE49-F238E27FC236}">
                  <a16:creationId xmlns:a16="http://schemas.microsoft.com/office/drawing/2014/main" id="{1F1B8883-169C-4CB5-94A8-EA7D7A5014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" y="1010"/>
              <a:ext cx="8231" cy="13"/>
            </a:xfrm>
            <a:prstGeom prst="line">
              <a:avLst/>
            </a:prstGeom>
            <a:noFill/>
            <a:ln w="27432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/>
            </a:p>
          </p:txBody>
        </p:sp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3EF8AC9-FA9F-445D-8E3D-15ABB588C9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3" y="0"/>
              <a:ext cx="1743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" name="Text Box 5">
              <a:extLst>
                <a:ext uri="{FF2B5EF4-FFF2-40B4-BE49-F238E27FC236}">
                  <a16:creationId xmlns:a16="http://schemas.microsoft.com/office/drawing/2014/main" id="{A422E6ED-E767-4DC0-9105-1AA0070D9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57"/>
              <a:ext cx="10056" cy="12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0" tIns="0" rIns="0" bIns="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ts val="25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endParaRPr kumimoji="0" lang="pt-BR" altLang="pt-BR" sz="2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800"/>
                </a:spcAft>
                <a:buClrTx/>
                <a:buSzTx/>
                <a:buFontTx/>
                <a:buNone/>
                <a:tabLst/>
              </a:pPr>
              <a:r>
                <a:rPr kumimoji="0" lang="pt-BR" altLang="pt-BR" sz="2400" b="1" i="0" u="none" strike="noStrike" cap="none" normalizeH="0" baseline="0" dirty="0">
                  <a:ln>
                    <a:noFill/>
                  </a:ln>
                  <a:solidFill>
                    <a:srgbClr val="7030A0"/>
                  </a:solidFill>
                  <a:effectLst/>
                  <a:latin typeface="Arial" panose="020B0604020202020204" pitchFamily="34" charset="0"/>
                </a:rPr>
                <a:t>UPE Campus Petrolina</a:t>
              </a:r>
              <a:endParaRPr kumimoji="0" lang="pt-BR" altLang="pt-BR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  <p:sp>
        <p:nvSpPr>
          <p:cNvPr id="26" name="Retângulo 25">
            <a:extLst>
              <a:ext uri="{FF2B5EF4-FFF2-40B4-BE49-F238E27FC236}">
                <a16:creationId xmlns:a16="http://schemas.microsoft.com/office/drawing/2014/main" id="{F127A6B5-8D77-486B-9218-12DF61BD1C71}"/>
              </a:ext>
            </a:extLst>
          </p:cNvPr>
          <p:cNvSpPr/>
          <p:nvPr/>
        </p:nvSpPr>
        <p:spPr>
          <a:xfrm>
            <a:off x="1305085" y="2126976"/>
            <a:ext cx="958183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pt-BR" sz="3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r>
              <a:rPr lang="pt-BR" sz="4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AULA PRÁTICA-USO DE SOFTWARE</a:t>
            </a:r>
            <a:endParaRPr lang="pt-BR" sz="4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A9D82902-ACD6-4C42-A7F7-797D395E53F2}"/>
              </a:ext>
            </a:extLst>
          </p:cNvPr>
          <p:cNvSpPr txBox="1"/>
          <p:nvPr/>
        </p:nvSpPr>
        <p:spPr>
          <a:xfrm>
            <a:off x="0" y="6567986"/>
            <a:ext cx="2022763" cy="307777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Prof. Dr. Edgo Santiago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EE469E3-77E1-4959-8B74-C794EBD1954D}"/>
              </a:ext>
            </a:extLst>
          </p:cNvPr>
          <p:cNvSpPr txBox="1"/>
          <p:nvPr/>
        </p:nvSpPr>
        <p:spPr>
          <a:xfrm>
            <a:off x="2008907" y="6565009"/>
            <a:ext cx="8174186" cy="307777"/>
          </a:xfrm>
          <a:prstGeom prst="rect">
            <a:avLst/>
          </a:prstGeom>
          <a:solidFill>
            <a:srgbClr val="0070C0"/>
          </a:solidFill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Estatística descritiva: conceitos estatísticos básicos e aplicações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AA6F383F-EAD5-436C-8BD2-3CA5663A2973}"/>
              </a:ext>
            </a:extLst>
          </p:cNvPr>
          <p:cNvSpPr txBox="1"/>
          <p:nvPr/>
        </p:nvSpPr>
        <p:spPr>
          <a:xfrm>
            <a:off x="10183093" y="6565009"/>
            <a:ext cx="2022763" cy="307777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fld id="{EABF7472-5CD2-45EA-8F08-F29863DFE6C6}" type="slidenum">
              <a:rPr lang="pt-BR" sz="14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pt-BR" sz="1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957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Que software usar para análise de dados?">
            <a:extLst>
              <a:ext uri="{FF2B5EF4-FFF2-40B4-BE49-F238E27FC236}">
                <a16:creationId xmlns:a16="http://schemas.microsoft.com/office/drawing/2014/main" id="{3B52AF38-9C83-4023-803E-CEA7223C81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2546" y="187036"/>
            <a:ext cx="8645236" cy="64839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372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Stata: Software for Statistics and Data Science - Enterprise Systems - IRES  - Indepth Research Institute (IRES)">
            <a:extLst>
              <a:ext uri="{FF2B5EF4-FFF2-40B4-BE49-F238E27FC236}">
                <a16:creationId xmlns:a16="http://schemas.microsoft.com/office/drawing/2014/main" id="{90E05D19-1181-474A-9E16-7FA427053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810000" cy="254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8242B28-BC3D-4762-909F-D5DED14291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4690" y="665018"/>
            <a:ext cx="8257310" cy="6192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50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179F49FE-BA33-458C-ADF6-8FBEAEEDFF0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018"/>
          <a:stretch/>
        </p:blipFill>
        <p:spPr>
          <a:xfrm>
            <a:off x="1039090" y="789829"/>
            <a:ext cx="9781310" cy="5278342"/>
          </a:xfrm>
          <a:prstGeom prst="rect">
            <a:avLst/>
          </a:prstGeom>
        </p:spPr>
      </p:pic>
      <p:sp>
        <p:nvSpPr>
          <p:cNvPr id="4" name="Elipse 3">
            <a:extLst>
              <a:ext uri="{FF2B5EF4-FFF2-40B4-BE49-F238E27FC236}">
                <a16:creationId xmlns:a16="http://schemas.microsoft.com/office/drawing/2014/main" id="{D36885AD-D1D9-4FAA-B3C7-709EA546A1BE}"/>
              </a:ext>
            </a:extLst>
          </p:cNvPr>
          <p:cNvSpPr/>
          <p:nvPr/>
        </p:nvSpPr>
        <p:spPr>
          <a:xfrm>
            <a:off x="1759528" y="762119"/>
            <a:ext cx="1357746" cy="64633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6" name="Conector: Angulado 5">
            <a:extLst>
              <a:ext uri="{FF2B5EF4-FFF2-40B4-BE49-F238E27FC236}">
                <a16:creationId xmlns:a16="http://schemas.microsoft.com/office/drawing/2014/main" id="{B292FC5F-A78B-40CA-8579-E9B5BAC001F7}"/>
              </a:ext>
            </a:extLst>
          </p:cNvPr>
          <p:cNvCxnSpPr>
            <a:cxnSpLocks/>
            <a:stCxn id="4" idx="0"/>
          </p:cNvCxnSpPr>
          <p:nvPr/>
        </p:nvCxnSpPr>
        <p:spPr>
          <a:xfrm rot="5400000" flipH="1" flipV="1">
            <a:off x="2722360" y="173244"/>
            <a:ext cx="304917" cy="872834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62C39451-8B28-4F77-8DF9-4A9E8ECB607E}"/>
              </a:ext>
            </a:extLst>
          </p:cNvPr>
          <p:cNvSpPr txBox="1"/>
          <p:nvPr/>
        </p:nvSpPr>
        <p:spPr>
          <a:xfrm>
            <a:off x="3449781" y="240452"/>
            <a:ext cx="84651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Atalhos para os principais comandos do </a:t>
            </a:r>
            <a:r>
              <a:rPr lang="pt-BR" dirty="0" err="1"/>
              <a:t>Stata</a:t>
            </a:r>
            <a:r>
              <a:rPr lang="pt-BR" dirty="0"/>
              <a:t>;  Manipulação de dados;  Assistente de gráficos; Estatísticas descritivas; Modelos Estatísticos</a:t>
            </a:r>
          </a:p>
        </p:txBody>
      </p:sp>
      <p:cxnSp>
        <p:nvCxnSpPr>
          <p:cNvPr id="11" name="Conector: Angulado 10">
            <a:extLst>
              <a:ext uri="{FF2B5EF4-FFF2-40B4-BE49-F238E27FC236}">
                <a16:creationId xmlns:a16="http://schemas.microsoft.com/office/drawing/2014/main" id="{1FF8478B-10F3-4FA8-A603-294DCACBB7D2}"/>
              </a:ext>
            </a:extLst>
          </p:cNvPr>
          <p:cNvCxnSpPr/>
          <p:nvPr/>
        </p:nvCxnSpPr>
        <p:spPr>
          <a:xfrm rot="5400000">
            <a:off x="6906489" y="2729222"/>
            <a:ext cx="3990109" cy="2466110"/>
          </a:xfrm>
          <a:prstGeom prst="bentConnector3">
            <a:avLst>
              <a:gd name="adj1" fmla="val 49999"/>
            </a:avLst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C383BCBA-1F0C-49D2-B2D7-99ADE838592D}"/>
              </a:ext>
            </a:extLst>
          </p:cNvPr>
          <p:cNvSpPr txBox="1"/>
          <p:nvPr/>
        </p:nvSpPr>
        <p:spPr>
          <a:xfrm>
            <a:off x="7218219" y="5973527"/>
            <a:ext cx="4696689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 err="1"/>
              <a:t>Variables</a:t>
            </a:r>
            <a:r>
              <a:rPr lang="pt-BR" dirty="0"/>
              <a:t>: Lista das variáveis da base de dados.</a:t>
            </a:r>
          </a:p>
        </p:txBody>
      </p:sp>
      <p:sp>
        <p:nvSpPr>
          <p:cNvPr id="15" name="Seta: para Baixo 14">
            <a:extLst>
              <a:ext uri="{FF2B5EF4-FFF2-40B4-BE49-F238E27FC236}">
                <a16:creationId xmlns:a16="http://schemas.microsoft.com/office/drawing/2014/main" id="{2CC432E0-6699-4CE6-8224-A2375FE73B10}"/>
              </a:ext>
            </a:extLst>
          </p:cNvPr>
          <p:cNvSpPr/>
          <p:nvPr/>
        </p:nvSpPr>
        <p:spPr>
          <a:xfrm>
            <a:off x="2874818" y="5463127"/>
            <a:ext cx="387925" cy="817418"/>
          </a:xfrm>
          <a:prstGeom prst="downArrow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5BED1EA1-6E3F-4A2E-A97A-DA5D0C8B3841}"/>
              </a:ext>
            </a:extLst>
          </p:cNvPr>
          <p:cNvSpPr txBox="1"/>
          <p:nvPr/>
        </p:nvSpPr>
        <p:spPr>
          <a:xfrm>
            <a:off x="1828803" y="6419094"/>
            <a:ext cx="6726382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pt-BR" dirty="0"/>
              <a:t>Command: Local de entrada dos comandos individuais </a:t>
            </a:r>
          </a:p>
        </p:txBody>
      </p:sp>
      <p:cxnSp>
        <p:nvCxnSpPr>
          <p:cNvPr id="19" name="Conector: Angulado 18">
            <a:extLst>
              <a:ext uri="{FF2B5EF4-FFF2-40B4-BE49-F238E27FC236}">
                <a16:creationId xmlns:a16="http://schemas.microsoft.com/office/drawing/2014/main" id="{F759D48D-A021-4EF3-A965-B739F5EDAD60}"/>
              </a:ext>
            </a:extLst>
          </p:cNvPr>
          <p:cNvCxnSpPr/>
          <p:nvPr/>
        </p:nvCxnSpPr>
        <p:spPr>
          <a:xfrm rot="16200000" flipH="1">
            <a:off x="381000" y="4038599"/>
            <a:ext cx="1995055" cy="124691"/>
          </a:xfrm>
          <a:prstGeom prst="bent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552FF038-0796-4BE1-8A89-211ECB757A8C}"/>
              </a:ext>
            </a:extLst>
          </p:cNvPr>
          <p:cNvSpPr txBox="1"/>
          <p:nvPr/>
        </p:nvSpPr>
        <p:spPr>
          <a:xfrm>
            <a:off x="152403" y="5140220"/>
            <a:ext cx="1607125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pt-BR" dirty="0" err="1"/>
              <a:t>Commands</a:t>
            </a:r>
            <a:r>
              <a:rPr lang="pt-BR" dirty="0"/>
              <a:t>: Exibe os comandos que foram executados </a:t>
            </a:r>
          </a:p>
        </p:txBody>
      </p:sp>
    </p:spTree>
    <p:extLst>
      <p:ext uri="{BB962C8B-B14F-4D97-AF65-F5344CB8AC3E}">
        <p14:creationId xmlns:p14="http://schemas.microsoft.com/office/powerpoint/2010/main" val="2810992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32203A1-639B-4EF8-ACE6-38B3E17A959F}"/>
              </a:ext>
            </a:extLst>
          </p:cNvPr>
          <p:cNvSpPr txBox="1"/>
          <p:nvPr/>
        </p:nvSpPr>
        <p:spPr>
          <a:xfrm>
            <a:off x="1163781" y="0"/>
            <a:ext cx="1195647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pt-BR" sz="3600" dirty="0"/>
          </a:p>
          <a:p>
            <a:r>
              <a:rPr lang="pt-BR" sz="3600" dirty="0">
                <a:hlinkClick r:id="rId3"/>
              </a:rPr>
              <a:t>https://github.com/EdgoJacksno/Aulap/blob/main</a:t>
            </a:r>
            <a:endParaRPr lang="pt-BR" sz="3600" dirty="0"/>
          </a:p>
          <a:p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AD8DD1-7079-44FA-9282-98AF34250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585287"/>
            <a:ext cx="12192000" cy="368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48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E32203A1-639B-4EF8-ACE6-38B3E17A959F}"/>
              </a:ext>
            </a:extLst>
          </p:cNvPr>
          <p:cNvSpPr txBox="1"/>
          <p:nvPr/>
        </p:nvSpPr>
        <p:spPr>
          <a:xfrm>
            <a:off x="1163781" y="0"/>
            <a:ext cx="11956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600" dirty="0">
                <a:hlinkClick r:id="rId3"/>
              </a:rPr>
              <a:t>https://github.com/EdgoJacksno/Aulap/blob/main</a:t>
            </a:r>
            <a:endParaRPr lang="pt-BR" sz="3600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DAD8DD1-7079-44FA-9282-98AF342500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46331"/>
            <a:ext cx="12192000" cy="3687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6003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AAFA84-9083-438D-98A0-78D686E50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34320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4AA952B-28E2-4BE6-880F-F4DD944189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429000"/>
            <a:ext cx="12192000" cy="4014888"/>
          </a:xfrm>
          <a:prstGeom prst="rect">
            <a:avLst/>
          </a:prstGeom>
        </p:spPr>
      </p:pic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74B6A34A-22AF-44C7-9CB4-68F79D7EB9A8}"/>
              </a:ext>
            </a:extLst>
          </p:cNvPr>
          <p:cNvSpPr/>
          <p:nvPr/>
        </p:nvSpPr>
        <p:spPr>
          <a:xfrm>
            <a:off x="1537854" y="1733939"/>
            <a:ext cx="1011382" cy="38580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Esquerda 6">
            <a:extLst>
              <a:ext uri="{FF2B5EF4-FFF2-40B4-BE49-F238E27FC236}">
                <a16:creationId xmlns:a16="http://schemas.microsoft.com/office/drawing/2014/main" id="{640EFE7F-45B5-4B77-84A9-8ECC10090782}"/>
              </a:ext>
            </a:extLst>
          </p:cNvPr>
          <p:cNvSpPr/>
          <p:nvPr/>
        </p:nvSpPr>
        <p:spPr>
          <a:xfrm>
            <a:off x="2715490" y="5931867"/>
            <a:ext cx="1011382" cy="385805"/>
          </a:xfrm>
          <a:prstGeom prst="lef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01869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0A02696-6C37-4043-AA10-26E1CB6BDCD9}"/>
              </a:ext>
            </a:extLst>
          </p:cNvPr>
          <p:cNvSpPr txBox="1"/>
          <p:nvPr/>
        </p:nvSpPr>
        <p:spPr>
          <a:xfrm>
            <a:off x="512618" y="243512"/>
            <a:ext cx="609600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/>
              <a:t>input idade</a:t>
            </a:r>
          </a:p>
          <a:p>
            <a:r>
              <a:rPr lang="pt-BR" sz="2400" dirty="0"/>
              <a:t>12</a:t>
            </a:r>
          </a:p>
          <a:p>
            <a:r>
              <a:rPr lang="pt-BR" sz="2400" dirty="0"/>
              <a:t>13</a:t>
            </a:r>
          </a:p>
          <a:p>
            <a:r>
              <a:rPr lang="pt-BR" sz="2400" dirty="0"/>
              <a:t>14</a:t>
            </a:r>
          </a:p>
          <a:p>
            <a:r>
              <a:rPr lang="pt-BR" sz="2400" dirty="0"/>
              <a:t>12</a:t>
            </a:r>
          </a:p>
          <a:p>
            <a:r>
              <a:rPr lang="pt-BR" sz="2400" dirty="0"/>
              <a:t>13</a:t>
            </a:r>
          </a:p>
          <a:p>
            <a:r>
              <a:rPr lang="pt-BR" sz="2400" dirty="0"/>
              <a:t>15</a:t>
            </a:r>
          </a:p>
          <a:p>
            <a:r>
              <a:rPr lang="pt-BR" sz="2400" dirty="0"/>
              <a:t>14</a:t>
            </a:r>
          </a:p>
          <a:p>
            <a:r>
              <a:rPr lang="pt-BR" sz="2400" dirty="0"/>
              <a:t>14</a:t>
            </a:r>
          </a:p>
          <a:p>
            <a:r>
              <a:rPr lang="pt-BR" sz="2400" dirty="0"/>
              <a:t>13</a:t>
            </a:r>
          </a:p>
          <a:p>
            <a:r>
              <a:rPr lang="pt-BR" sz="2400" dirty="0"/>
              <a:t>12</a:t>
            </a:r>
          </a:p>
          <a:p>
            <a:r>
              <a:rPr lang="pt-BR" sz="2400" dirty="0"/>
              <a:t>12</a:t>
            </a:r>
          </a:p>
          <a:p>
            <a:r>
              <a:rPr lang="pt-BR" sz="2400" dirty="0"/>
              <a:t>14</a:t>
            </a:r>
          </a:p>
          <a:p>
            <a:r>
              <a:rPr lang="pt-BR" sz="2400" dirty="0"/>
              <a:t>15</a:t>
            </a:r>
          </a:p>
          <a:p>
            <a:r>
              <a:rPr lang="pt-BR" sz="2400" dirty="0"/>
              <a:t>13</a:t>
            </a:r>
          </a:p>
          <a:p>
            <a:r>
              <a:rPr lang="pt-BR" sz="2400" dirty="0"/>
              <a:t>12</a:t>
            </a:r>
          </a:p>
          <a:p>
            <a:r>
              <a:rPr lang="pt-BR" sz="2400" dirty="0" err="1"/>
              <a:t>end</a:t>
            </a:r>
            <a:endParaRPr lang="pt-BR" sz="2400" dirty="0"/>
          </a:p>
        </p:txBody>
      </p:sp>
      <p:sp>
        <p:nvSpPr>
          <p:cNvPr id="4" name="Seta: para a Direita 3">
            <a:extLst>
              <a:ext uri="{FF2B5EF4-FFF2-40B4-BE49-F238E27FC236}">
                <a16:creationId xmlns:a16="http://schemas.microsoft.com/office/drawing/2014/main" id="{2E8C2F4E-46CD-423A-BBA0-F923EF5C589B}"/>
              </a:ext>
            </a:extLst>
          </p:cNvPr>
          <p:cNvSpPr/>
          <p:nvPr/>
        </p:nvSpPr>
        <p:spPr>
          <a:xfrm>
            <a:off x="2230582" y="3235035"/>
            <a:ext cx="1330036" cy="387927"/>
          </a:xfrm>
          <a:prstGeom prst="rightArrow">
            <a:avLst/>
          </a:prstGeom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93122460-1D75-41BA-8F2D-B37971B3BB77}"/>
              </a:ext>
            </a:extLst>
          </p:cNvPr>
          <p:cNvSpPr txBox="1"/>
          <p:nvPr/>
        </p:nvSpPr>
        <p:spPr>
          <a:xfrm>
            <a:off x="5583382" y="56475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***************************************************</a:t>
            </a:r>
          </a:p>
          <a:p>
            <a:r>
              <a:rPr lang="pt-BR" dirty="0"/>
              <a:t>2. Distribuição de frequência por ponto</a:t>
            </a:r>
          </a:p>
          <a:p>
            <a:r>
              <a:rPr lang="pt-BR" dirty="0"/>
              <a:t>***************************************************</a:t>
            </a:r>
          </a:p>
          <a:p>
            <a:r>
              <a:rPr lang="pt-BR" b="1" i="1" dirty="0" err="1"/>
              <a:t>dist</a:t>
            </a:r>
            <a:r>
              <a:rPr lang="pt-BR" b="1" i="1" dirty="0"/>
              <a:t> idade</a:t>
            </a:r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***************************************************</a:t>
            </a:r>
          </a:p>
          <a:p>
            <a:r>
              <a:rPr lang="pt-BR" dirty="0"/>
              <a:t> 3. Distribuição de frequência por classe</a:t>
            </a:r>
          </a:p>
          <a:p>
            <a:r>
              <a:rPr lang="pt-BR" dirty="0"/>
              <a:t>***************************************************</a:t>
            </a:r>
          </a:p>
          <a:p>
            <a:r>
              <a:rPr lang="pt-BR" b="1" i="1" dirty="0" err="1"/>
              <a:t>dist</a:t>
            </a:r>
            <a:r>
              <a:rPr lang="pt-BR" b="1" i="1" dirty="0"/>
              <a:t> idade, intervalo</a:t>
            </a:r>
          </a:p>
          <a:p>
            <a:endParaRPr lang="pt-BR" dirty="0"/>
          </a:p>
        </p:txBody>
      </p:sp>
      <p:sp>
        <p:nvSpPr>
          <p:cNvPr id="7" name="Chave Esquerda 6">
            <a:extLst>
              <a:ext uri="{FF2B5EF4-FFF2-40B4-BE49-F238E27FC236}">
                <a16:creationId xmlns:a16="http://schemas.microsoft.com/office/drawing/2014/main" id="{82467D25-4D7D-4DDE-8BB2-DB43E9F8F5D6}"/>
              </a:ext>
            </a:extLst>
          </p:cNvPr>
          <p:cNvSpPr/>
          <p:nvPr/>
        </p:nvSpPr>
        <p:spPr>
          <a:xfrm>
            <a:off x="4184071" y="48491"/>
            <a:ext cx="623455" cy="6761018"/>
          </a:xfrm>
          <a:prstGeom prst="lef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F8ABACD-63A3-4CC9-855C-29C86E0EE0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68264" y="4508255"/>
            <a:ext cx="5811118" cy="2321822"/>
          </a:xfrm>
          <a:prstGeom prst="rect">
            <a:avLst/>
          </a:prstGeom>
        </p:spPr>
      </p:pic>
      <p:pic>
        <p:nvPicPr>
          <p:cNvPr id="19" name="Imagem 18">
            <a:extLst>
              <a:ext uri="{FF2B5EF4-FFF2-40B4-BE49-F238E27FC236}">
                <a16:creationId xmlns:a16="http://schemas.microsoft.com/office/drawing/2014/main" id="{1EB5F41E-9E9A-4611-882F-EB5671F851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35954" y="1039607"/>
            <a:ext cx="4501864" cy="2195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364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BB0BAF58-8619-4F14-8131-CBCAD911B384}"/>
              </a:ext>
            </a:extLst>
          </p:cNvPr>
          <p:cNvSpPr txBox="1"/>
          <p:nvPr/>
        </p:nvSpPr>
        <p:spPr>
          <a:xfrm>
            <a:off x="0" y="0"/>
            <a:ext cx="1219199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Como exemplo, suponha que um pesquisador esteja interessado em conhecer qual a distribuição da estatura dos estudantes de uma escola. Para tanto, ele mediu 40 alunos obtendo a seguinte Tabela.</a:t>
            </a: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4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Realize uma distribuição de frequência por intervalos de classe utilizando o software estatístico </a:t>
            </a:r>
            <a:r>
              <a:rPr lang="pt-BR" sz="2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Stata</a:t>
            </a:r>
            <a:r>
              <a:rPr lang="pt-BR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F9210FA-B0DE-4FEC-82BC-DDE2CF935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95053" y="735292"/>
            <a:ext cx="8201892" cy="2505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2479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0BB2DC1A-E5AA-4AED-8F63-A9F6EB6351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9438" y="55417"/>
            <a:ext cx="11753124" cy="6747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6147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CEA02929-60D5-47DD-9A82-688DB46DE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251300"/>
            <a:ext cx="12081166" cy="605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2690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FD104E7-4510-4900-9499-E698BE5D8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382"/>
            <a:ext cx="11883916" cy="2202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181331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250</Words>
  <Application>Microsoft Office PowerPoint</Application>
  <PresentationFormat>Widescreen</PresentationFormat>
  <Paragraphs>69</Paragraphs>
  <Slides>13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Edgo Jackson Pinto Santiago</dc:creator>
  <cp:lastModifiedBy>Edgo Jackson Pinto Santiago</cp:lastModifiedBy>
  <cp:revision>11</cp:revision>
  <dcterms:created xsi:type="dcterms:W3CDTF">2025-05-09T15:04:47Z</dcterms:created>
  <dcterms:modified xsi:type="dcterms:W3CDTF">2025-05-15T17:08:39Z</dcterms:modified>
</cp:coreProperties>
</file>